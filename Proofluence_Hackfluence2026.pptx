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or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22" Type="http://schemas.openxmlformats.org/officeDocument/2006/relationships/font" Target="fonts/Lora-bold.fntdata"/><Relationship Id="rId10" Type="http://schemas.openxmlformats.org/officeDocument/2006/relationships/slide" Target="slides/slide4.xml"/><Relationship Id="rId21" Type="http://schemas.openxmlformats.org/officeDocument/2006/relationships/font" Target="fonts/Lora-regular.fntdata"/><Relationship Id="rId13" Type="http://schemas.openxmlformats.org/officeDocument/2006/relationships/slide" Target="slides/slide7.xml"/><Relationship Id="rId24" Type="http://schemas.openxmlformats.org/officeDocument/2006/relationships/font" Target="fonts/Lora-boldItalic.fntdata"/><Relationship Id="rId12" Type="http://schemas.openxmlformats.org/officeDocument/2006/relationships/slide" Target="slides/slide6.xml"/><Relationship Id="rId23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oppi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d93ee205c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d93ee205c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d93ee205c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93ee205c_2_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d93ee205c_2_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d93ee205c_2_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93ee205c_2_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d93ee205c_2_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d93ee205c_2_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d93ee205c_2_7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d93ee205c_2_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d93ee205c_2_7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d93ee205c_2_10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d93ee205c_2_10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d93ee205c_2_10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d93ee205c_2_1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ed93ee205c_2_1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d93ee205c_2_1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d93ee205c_2_1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ed93ee205c_2_1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d93ee205c_2_1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d93ee205c_2_2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ed93ee205c_2_2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d93ee205c_2_2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d93ee205c_2_2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ed93ee205c_2_2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d93ee205c_2_2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d93ee205c_2_28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ed93ee205c_2_2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d93ee205c_2_2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480060" y="445770"/>
            <a:ext cx="651510" cy="65151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453" y="615163"/>
            <a:ext cx="312724" cy="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1268730" y="49377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00"/>
              <a:buFont typeface="Poppins"/>
              <a:buNone/>
            </a:pPr>
            <a:r>
              <a:rPr b="1" i="0" lang="en-GB" sz="20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PROOFLUENCE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80060" y="1611630"/>
            <a:ext cx="6583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800"/>
              <a:buFont typeface="Poppins"/>
              <a:buNone/>
            </a:pPr>
            <a:r>
              <a:rPr b="1" i="0" lang="en-GB" sz="3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Know your ROI before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800"/>
              <a:buFont typeface="Poppins"/>
              <a:buNone/>
            </a:pPr>
            <a:r>
              <a:rPr b="1" i="0" lang="en-GB" sz="3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you spend a rupee.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80060" y="3051810"/>
            <a:ext cx="72694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300"/>
              <a:buFont typeface="Lora"/>
              <a:buNone/>
            </a:pPr>
            <a:r>
              <a:rPr b="0" i="0" lang="en-GB" sz="1300" u="none" cap="none" strike="noStrike">
                <a:solidFill>
                  <a:srgbClr val="FAF9F5"/>
                </a:solidFill>
                <a:latin typeface="Lora"/>
                <a:ea typeface="Lora"/>
                <a:cs typeface="Lora"/>
                <a:sym typeface="Lora"/>
              </a:rPr>
              <a:t>A transparent, AI-powered platform that connects </a:t>
            </a:r>
            <a:r>
              <a:rPr b="1" i="0" lang="en-GB" sz="13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brands and creators directly</a:t>
            </a:r>
            <a:r>
              <a:rPr b="0" i="0" lang="en-GB" sz="1300" u="none" cap="none" strike="noStrike">
                <a:solidFill>
                  <a:srgbClr val="FAF9F5"/>
                </a:solidFill>
                <a:latin typeface="Lora"/>
                <a:ea typeface="Lora"/>
                <a:cs typeface="Lora"/>
                <a:sym typeface="Lora"/>
              </a:rPr>
              <a:t> — scoring authenticity, projecting profit, and tracking real sales. No agency. No guesswork.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80060" y="4080510"/>
            <a:ext cx="1700784" cy="342900"/>
          </a:xfrm>
          <a:prstGeom prst="roundRect">
            <a:avLst>
              <a:gd fmla="val 50000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80060" y="4080510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AI for Creator Tools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2318004" y="4080510"/>
            <a:ext cx="2219248" cy="342900"/>
          </a:xfrm>
          <a:prstGeom prst="roundRect">
            <a:avLst>
              <a:gd fmla="val 50000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2318004" y="4080510"/>
            <a:ext cx="2219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Brand–Creator Collaboration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674413" y="4080510"/>
            <a:ext cx="1700784" cy="342900"/>
          </a:xfrm>
          <a:prstGeom prst="roundRect">
            <a:avLst>
              <a:gd fmla="val 50000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674413" y="4080510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Influencer Discovery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512357" y="4080510"/>
            <a:ext cx="1700784" cy="342900"/>
          </a:xfrm>
          <a:prstGeom prst="roundRect">
            <a:avLst>
              <a:gd fmla="val 50000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512357" y="4080510"/>
            <a:ext cx="170078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Creator Monetization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80060" y="469773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Hackfluence 2026  ·  Team </a:t>
            </a:r>
            <a:r>
              <a:rPr lang="en-GB" sz="900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Rocket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480060" y="377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400"/>
              <a:buFont typeface="Poppins"/>
              <a:buNone/>
            </a:pPr>
            <a:r>
              <a:rPr b="1" i="0" lang="en-GB" sz="24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The creator economy runs on blind spending.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0060" y="1543050"/>
            <a:ext cx="394335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699516" y="1776222"/>
            <a:ext cx="582930" cy="582930"/>
          </a:xfrm>
          <a:prstGeom prst="ellipse">
            <a:avLst/>
          </a:prstGeom>
          <a:solidFill>
            <a:srgbClr val="F4ECE6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078" y="1927784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1474470" y="1735074"/>
            <a:ext cx="27774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Poppins"/>
              <a:buNone/>
            </a:pPr>
            <a:r>
              <a:rPr b="1" i="0" lang="en-GB" sz="13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20–40% lost to middlemen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474470" y="2105406"/>
            <a:ext cx="27432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Agencies take a heavy cut on every deal, with zero transparency on how creators were chosen.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766310" y="1543050"/>
            <a:ext cx="394335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985766" y="1776222"/>
            <a:ext cx="582930" cy="582930"/>
          </a:xfrm>
          <a:prstGeom prst="ellipse">
            <a:avLst/>
          </a:prstGeom>
          <a:solidFill>
            <a:srgbClr val="F4ECE6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7327" y="1927784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5760720" y="1735074"/>
            <a:ext cx="27774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Poppins"/>
              <a:buNone/>
            </a:pPr>
            <a:r>
              <a:rPr b="1" i="0" lang="en-GB" sz="13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ROI measured too 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760720" y="2105406"/>
            <a:ext cx="27432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Brands only see results after spending — and usually only vanity metrics like views, never sales.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0060" y="3257550"/>
            <a:ext cx="394335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99516" y="3490722"/>
            <a:ext cx="582930" cy="582930"/>
          </a:xfrm>
          <a:prstGeom prst="ellipse">
            <a:avLst/>
          </a:prstGeom>
          <a:solidFill>
            <a:srgbClr val="F4ECE6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078" y="3642284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474470" y="3449574"/>
            <a:ext cx="27774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Poppins"/>
              <a:buNone/>
            </a:pPr>
            <a:r>
              <a:rPr b="1" i="0" lang="en-GB" sz="13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Fake followers, real money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474470" y="3819906"/>
            <a:ext cx="27432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Bot engagement inflates creator pricing. Brands overpay for audiences that don't convert.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766310" y="3257550"/>
            <a:ext cx="3943350" cy="140589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985766" y="3490722"/>
            <a:ext cx="582930" cy="582930"/>
          </a:xfrm>
          <a:prstGeom prst="ellipse">
            <a:avLst/>
          </a:prstGeom>
          <a:solidFill>
            <a:srgbClr val="F4ECE6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37327" y="3642284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5760720" y="3449574"/>
            <a:ext cx="27774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300"/>
              <a:buFont typeface="Poppins"/>
              <a:buNone/>
            </a:pPr>
            <a:r>
              <a:rPr b="1" i="0" lang="en-GB" sz="13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Creators under-earn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760720" y="3819906"/>
            <a:ext cx="274320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Without data to prove their value, creators undercharge and negotiate deals blindly over DMs.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2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480060" y="377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OUR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600"/>
              <a:buFont typeface="Poppins"/>
              <a:buNone/>
            </a:pPr>
            <a:r>
              <a:rPr b="1" i="0" lang="en-GB" sz="26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One platform. Three transparent layers.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80060" y="1543050"/>
            <a:ext cx="2640330" cy="2400300"/>
          </a:xfrm>
          <a:prstGeom prst="roundRect">
            <a:avLst>
              <a:gd fmla="val 285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822960" y="1885950"/>
            <a:ext cx="685800" cy="68580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06425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822960" y="2743200"/>
            <a:ext cx="19545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Poppins"/>
              <a:buNone/>
            </a:pPr>
            <a:r>
              <a:rPr b="1" i="0" lang="en-GB" sz="1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822960" y="3154680"/>
            <a:ext cx="19888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AI rates every creator 0–100 on niche fit, audience authenticity, engagement quality, and past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380994" y="1543050"/>
            <a:ext cx="2640330" cy="2400300"/>
          </a:xfrm>
          <a:prstGeom prst="roundRect">
            <a:avLst>
              <a:gd fmla="val 285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723894" y="1885950"/>
            <a:ext cx="685800" cy="68580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2202" y="206425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/>
          <p:nvPr/>
        </p:nvSpPr>
        <p:spPr>
          <a:xfrm>
            <a:off x="3723894" y="2743200"/>
            <a:ext cx="19545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Poppins"/>
              <a:buNone/>
            </a:pPr>
            <a:r>
              <a:rPr b="1" i="0" lang="en-GB" sz="1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723894" y="3154680"/>
            <a:ext cx="19888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Brands see estimated views, clicks, conversions and </a:t>
            </a:r>
            <a:r>
              <a:rPr lang="en-GB" sz="1000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ROI</a:t>
            </a:r>
            <a:r>
              <a:rPr b="0" i="0" lang="en-GB" sz="10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 for a campaign before spending a rupee.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281928" y="1543050"/>
            <a:ext cx="2640330" cy="2400300"/>
          </a:xfrm>
          <a:prstGeom prst="roundRect">
            <a:avLst>
              <a:gd fmla="val 285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624828" y="1885950"/>
            <a:ext cx="685800" cy="68580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3136" y="206425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6624828" y="2743200"/>
            <a:ext cx="19545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Poppins"/>
              <a:buNone/>
            </a:pPr>
            <a:r>
              <a:rPr b="1" i="0" lang="en-GB" sz="1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Track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624828" y="3154680"/>
            <a:ext cx="19888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1000"/>
              <a:buFont typeface="Lora"/>
              <a:buNone/>
            </a:pPr>
            <a:r>
              <a:rPr b="0" i="0" lang="en-GB" sz="10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Unique affiliate links and coupon codes attribute real sales to each creator in real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80060" y="421767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Lora"/>
              <a:buNone/>
            </a:pPr>
            <a:r>
              <a:rPr b="1" i="0" lang="en-GB" sz="11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The result:  </a:t>
            </a:r>
            <a:r>
              <a:rPr b="0" i="0" lang="en-GB" sz="11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creators own their data via secure OAuth, brands buy on evidence, and nobody takes a hidden cut.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3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80060" y="37719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UNIQUE SELLING PROPOSITION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400"/>
              <a:buFont typeface="Poppins"/>
              <a:buNone/>
            </a:pPr>
            <a:r>
              <a:rPr b="1" i="0" lang="en-GB" sz="24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Why Proofluence wins.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80060" y="1508760"/>
            <a:ext cx="3154680" cy="3017520"/>
          </a:xfrm>
          <a:prstGeom prst="roundRect">
            <a:avLst>
              <a:gd fmla="val 2727" name="adj"/>
            </a:avLst>
          </a:prstGeom>
          <a:solidFill>
            <a:srgbClr val="141413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754380" y="1783080"/>
            <a:ext cx="651510" cy="65151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73" y="1952473"/>
            <a:ext cx="312725" cy="31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754380" y="2571750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700"/>
              <a:buFont typeface="Poppins"/>
              <a:buNone/>
            </a:pPr>
            <a:r>
              <a:rPr b="1" i="0" lang="en-GB" sz="17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Profit projected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54380" y="2914650"/>
            <a:ext cx="26746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4100"/>
              <a:buFont typeface="Poppins"/>
              <a:buNone/>
            </a:pPr>
            <a:r>
              <a:rPr b="1" i="0" lang="en-GB" sz="4100" u="none" cap="none" strike="noStrike">
                <a:solidFill>
                  <a:srgbClr val="D97757"/>
                </a:solidFill>
                <a:latin typeface="Poppins"/>
                <a:ea typeface="Poppins"/>
                <a:cs typeface="Poppins"/>
                <a:sym typeface="Poppins"/>
              </a:rPr>
              <a:t>BEFORE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54380" y="3531870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a single rupee is spent.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754380" y="3909060"/>
            <a:ext cx="264033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No other tool in this market shows brands a forecasted </a:t>
            </a:r>
            <a:r>
              <a:rPr lang="en-GB" sz="900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ROI</a:t>
            </a: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 at the discovery stage.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3840480" y="1508760"/>
            <a:ext cx="4800600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3991356" y="1632204"/>
            <a:ext cx="411480" cy="41148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8341" y="1739189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4560570" y="1591056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Direct, zero middleman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60570" y="185166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Brands and creators transact directly — no agency markup.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840480" y="2283714"/>
            <a:ext cx="4800600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991356" y="2407158"/>
            <a:ext cx="411480" cy="41148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8341" y="2514143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4560570" y="236601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Authenticity-first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560570" y="262661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AI bot-detection filters fake audiences out of the leaderboard.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840480" y="3058668"/>
            <a:ext cx="4800600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991356" y="3182112"/>
            <a:ext cx="411480" cy="41148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8341" y="3285671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4560570" y="3140964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Closed-loop attribution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560570" y="34015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Every sale is tied back to the exact creator that drove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840480" y="3833622"/>
            <a:ext cx="4800600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991356" y="3957066"/>
            <a:ext cx="411480" cy="41148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8341" y="4064050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4560570" y="39159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Built for India's mid-tier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560570" y="417652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Targets 10K–500K creators that enterprise tools ignore.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4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480060" y="377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HOW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600"/>
              <a:buFont typeface="Poppins"/>
              <a:buNone/>
            </a:pPr>
            <a:r>
              <a:rPr b="1" i="0" lang="en-GB" sz="26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From discovery to attributed sale.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80060" y="1611630"/>
            <a:ext cx="1563624" cy="2331720"/>
          </a:xfrm>
          <a:prstGeom prst="roundRect">
            <a:avLst>
              <a:gd fmla="val 438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85800" y="1762506"/>
            <a:ext cx="685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937"/>
              </a:buClr>
              <a:buSzPts val="3000"/>
              <a:buFont typeface="Poppins"/>
              <a:buNone/>
            </a:pPr>
            <a:r>
              <a:rPr b="1" i="0" lang="en-GB" sz="3000" u="none" cap="none" strike="noStrike">
                <a:solidFill>
                  <a:srgbClr val="3A3937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357884" y="1831086"/>
            <a:ext cx="480060" cy="48006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700" y="1955902"/>
            <a:ext cx="230428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85800" y="2537460"/>
            <a:ext cx="11521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Discover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85800" y="2914650"/>
            <a:ext cx="118643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Brand filters the ranked creator leaderboard by niche, audience &amp; budget.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167128" y="1611630"/>
            <a:ext cx="1563624" cy="2331720"/>
          </a:xfrm>
          <a:prstGeom prst="roundRect">
            <a:avLst>
              <a:gd fmla="val 438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372868" y="1762506"/>
            <a:ext cx="685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937"/>
              </a:buClr>
              <a:buSzPts val="3000"/>
              <a:buFont typeface="Poppins"/>
              <a:buNone/>
            </a:pPr>
            <a:r>
              <a:rPr b="1" i="0" lang="en-GB" sz="3000" u="none" cap="none" strike="noStrike">
                <a:solidFill>
                  <a:srgbClr val="3A3937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044952" y="1831086"/>
            <a:ext cx="480060" cy="48006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9768" y="1955902"/>
            <a:ext cx="230428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2372868" y="2537460"/>
            <a:ext cx="11521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372868" y="2914650"/>
            <a:ext cx="118643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AI surfaces a Proofluence Score + plain-English brief for each creator.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854196" y="1611630"/>
            <a:ext cx="1563624" cy="2331720"/>
          </a:xfrm>
          <a:prstGeom prst="roundRect">
            <a:avLst>
              <a:gd fmla="val 438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4059936" y="1762506"/>
            <a:ext cx="685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937"/>
              </a:buClr>
              <a:buSzPts val="3000"/>
              <a:buFont typeface="Poppins"/>
              <a:buNone/>
            </a:pPr>
            <a:r>
              <a:rPr b="1" i="0" lang="en-GB" sz="3000" u="none" cap="none" strike="noStrike">
                <a:solidFill>
                  <a:srgbClr val="3A3937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732020" y="1831086"/>
            <a:ext cx="480060" cy="48006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6836" y="1955902"/>
            <a:ext cx="230429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4059936" y="2537460"/>
            <a:ext cx="11521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059936" y="2914650"/>
            <a:ext cx="118643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Brand runs an instant ROI forecast for a chosen creator &amp; product.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541264" y="1611630"/>
            <a:ext cx="1563624" cy="2331720"/>
          </a:xfrm>
          <a:prstGeom prst="roundRect">
            <a:avLst>
              <a:gd fmla="val 438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47004" y="1762506"/>
            <a:ext cx="685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937"/>
              </a:buClr>
              <a:buSzPts val="3000"/>
              <a:buFont typeface="Poppins"/>
              <a:buNone/>
            </a:pPr>
            <a:r>
              <a:rPr b="1" i="0" lang="en-GB" sz="3000" u="none" cap="none" strike="noStrike">
                <a:solidFill>
                  <a:srgbClr val="3A3937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419088" y="1831086"/>
            <a:ext cx="480060" cy="48006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3904" y="1955902"/>
            <a:ext cx="230429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5747004" y="2537460"/>
            <a:ext cx="11521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Deal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47004" y="2914650"/>
            <a:ext cx="118643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Direct campaign brief, negotiation &amp; approval — no agency in between.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228332" y="1611630"/>
            <a:ext cx="1563624" cy="2331720"/>
          </a:xfrm>
          <a:prstGeom prst="roundRect">
            <a:avLst>
              <a:gd fmla="val 438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434072" y="1762506"/>
            <a:ext cx="685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937"/>
              </a:buClr>
              <a:buSzPts val="3000"/>
              <a:buFont typeface="Poppins"/>
              <a:buNone/>
            </a:pPr>
            <a:r>
              <a:rPr b="1" i="0" lang="en-GB" sz="3000" u="none" cap="none" strike="noStrike">
                <a:solidFill>
                  <a:srgbClr val="3A3937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106156" y="1831086"/>
            <a:ext cx="480060" cy="48006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0972" y="1955902"/>
            <a:ext cx="230429" cy="23042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7434072" y="2537460"/>
            <a:ext cx="115214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00"/>
              <a:buFont typeface="Poppins"/>
              <a:buNone/>
            </a:pPr>
            <a:r>
              <a:rPr b="1" i="0" lang="en-GB" sz="14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Track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434072" y="2914650"/>
            <a:ext cx="118643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Auto-generated link + coupon attribute live clicks and sales.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5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480060" y="37719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TECHNOLOGY 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400"/>
              <a:buFont typeface="Poppins"/>
              <a:buNone/>
            </a:pPr>
            <a:r>
              <a:rPr b="1" i="0" lang="en-GB" sz="24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A lean, AI-native stack.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0060" y="154305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685800" y="1769364"/>
            <a:ext cx="582930" cy="58293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362" y="192092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1440180" y="173507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440180" y="207797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lang="en-GB" sz="900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Vite</a:t>
            </a: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 · TypeScript · Tailwind · shadcn/ui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380994" y="154305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3586734" y="1769364"/>
            <a:ext cx="582930" cy="58293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8296" y="192092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4341114" y="173507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341114" y="207797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Node.js · Express · REST APIs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281928" y="154305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487668" y="1769364"/>
            <a:ext cx="582930" cy="58293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9230" y="192092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7242048" y="173507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AI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242048" y="207797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Python · FastAPI · </a:t>
            </a:r>
            <a:r>
              <a:rPr lang="en-GB" sz="900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Gemini</a:t>
            </a: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 API 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80060" y="284607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85800" y="3072384"/>
            <a:ext cx="582930" cy="58293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362" y="322394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1440180" y="303809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Data &amp; 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1440180" y="338099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PostgreSQL · Supabase · OAuth 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380994" y="284607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3586734" y="3072384"/>
            <a:ext cx="582930" cy="58293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8296" y="322394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/>
          <p:nvPr/>
        </p:nvSpPr>
        <p:spPr>
          <a:xfrm>
            <a:off x="4341114" y="303809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Creator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341114" y="338099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YouTube Data + Analytics API (consented)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281928" y="2846070"/>
            <a:ext cx="264033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487668" y="3072384"/>
            <a:ext cx="582930" cy="58293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9230" y="3223946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7242048" y="3038094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242048" y="3380994"/>
            <a:ext cx="15773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Vercel · Railway · edge redirects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80060" y="4354830"/>
            <a:ext cx="8161020" cy="480060"/>
          </a:xfrm>
          <a:prstGeom prst="roundRect">
            <a:avLst>
              <a:gd fmla="val 14286" name="adj"/>
            </a:avLst>
          </a:prstGeom>
          <a:solidFill>
            <a:srgbClr val="1414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85800" y="4354830"/>
            <a:ext cx="77495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000"/>
              <a:buFont typeface="Lora"/>
              <a:buNone/>
            </a:pPr>
            <a:r>
              <a:rPr b="1" i="0" lang="en-GB" sz="10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AI throughout:  </a:t>
            </a:r>
            <a:r>
              <a:rPr lang="en-GB" sz="1000">
                <a:solidFill>
                  <a:srgbClr val="FAF9F5"/>
                </a:solidFill>
                <a:latin typeface="Lora"/>
                <a:ea typeface="Lora"/>
                <a:cs typeface="Lora"/>
                <a:sym typeface="Lora"/>
              </a:rPr>
              <a:t>Gemini</a:t>
            </a:r>
            <a:r>
              <a:rPr b="0" i="0" lang="en-GB" sz="1000" u="none" cap="none" strike="noStrike">
                <a:solidFill>
                  <a:srgbClr val="FAF9F5"/>
                </a:solidFill>
                <a:latin typeface="Lora"/>
                <a:ea typeface="Lora"/>
                <a:cs typeface="Lora"/>
                <a:sym typeface="Lora"/>
              </a:rPr>
              <a:t> powers creator scoring, bot detection, niche analysis, and auto-generated brand briefs.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6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>
            <a:off x="480060" y="377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600"/>
              <a:buFont typeface="Poppins"/>
              <a:buNone/>
            </a:pPr>
            <a:r>
              <a:rPr b="1" i="0" lang="en-GB" sz="26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Revenue that grows with our users.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80060" y="1577340"/>
            <a:ext cx="2640330" cy="2434590"/>
          </a:xfrm>
          <a:prstGeom prst="roundRect">
            <a:avLst>
              <a:gd fmla="val 281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788670" y="1865376"/>
            <a:ext cx="582930" cy="58293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232" y="2016938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1474470" y="188595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5% platform fee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788670" y="2606040"/>
            <a:ext cx="20231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200"/>
              <a:buFont typeface="Poppins"/>
              <a:buNone/>
            </a:pPr>
            <a:r>
              <a:rPr b="1" i="0" lang="en-GB" sz="3200" u="none" cap="none" strike="noStrike">
                <a:solidFill>
                  <a:srgbClr val="D97757"/>
                </a:solidFill>
                <a:latin typeface="Poppins"/>
                <a:ea typeface="Poppins"/>
                <a:cs typeface="Poppins"/>
                <a:sym typeface="Poppins"/>
              </a:rPr>
              <a:t>₹2,500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809244" y="3168396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900"/>
              <a:buFont typeface="Lora"/>
              <a:buNone/>
            </a:pPr>
            <a:r>
              <a:rPr b="0" i="1" lang="en-GB" sz="9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per ₹50,000 deal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88670" y="3442716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Taken on every successful brand–creator transaction.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380994" y="1577340"/>
            <a:ext cx="2640330" cy="2434590"/>
          </a:xfrm>
          <a:prstGeom prst="roundRect">
            <a:avLst>
              <a:gd fmla="val 281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3689604" y="1865376"/>
            <a:ext cx="582930" cy="58293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1166" y="2016938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>
            <a:off x="4375404" y="188595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Brand Pro SaaS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689604" y="2606040"/>
            <a:ext cx="20231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3200"/>
              <a:buFont typeface="Poppins"/>
              <a:buNone/>
            </a:pPr>
            <a:r>
              <a:rPr b="1" i="0" lang="en-GB" sz="3200" u="none" cap="none" strike="noStrike">
                <a:solidFill>
                  <a:srgbClr val="6A9BCC"/>
                </a:solidFill>
                <a:latin typeface="Poppins"/>
                <a:ea typeface="Poppins"/>
                <a:cs typeface="Poppins"/>
                <a:sym typeface="Poppins"/>
              </a:rPr>
              <a:t>₹999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710178" y="3168396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900"/>
              <a:buFont typeface="Lora"/>
              <a:buNone/>
            </a:pPr>
            <a:r>
              <a:rPr b="0" i="1" lang="en-GB" sz="9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per month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689604" y="3442716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Advanced analytics, unlimited projections &amp; priority discovery.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6281928" y="1577340"/>
            <a:ext cx="2640330" cy="2434590"/>
          </a:xfrm>
          <a:prstGeom prst="roundRect">
            <a:avLst>
              <a:gd fmla="val 2817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6590538" y="1865376"/>
            <a:ext cx="582930" cy="58293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2099" y="2016938"/>
            <a:ext cx="279806" cy="27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/>
          <p:nvPr/>
        </p:nvSpPr>
        <p:spPr>
          <a:xfrm>
            <a:off x="7276338" y="1885950"/>
            <a:ext cx="15430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Creator 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590538" y="2606040"/>
            <a:ext cx="20231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8C5D"/>
              </a:buClr>
              <a:buSzPts val="3200"/>
              <a:buFont typeface="Poppins"/>
              <a:buNone/>
            </a:pPr>
            <a:r>
              <a:rPr b="1" i="0" lang="en-GB" sz="3200" u="none" cap="none" strike="noStrike">
                <a:solidFill>
                  <a:srgbClr val="788C5D"/>
                </a:solidFill>
                <a:latin typeface="Poppins"/>
                <a:ea typeface="Poppins"/>
                <a:cs typeface="Poppins"/>
                <a:sym typeface="Poppins"/>
              </a:rPr>
              <a:t>₹299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611112" y="3168396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900"/>
              <a:buFont typeface="Lora"/>
              <a:buNone/>
            </a:pPr>
            <a:r>
              <a:rPr b="0" i="1" lang="en-GB" sz="9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per month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590538" y="3442716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Verified badge, profile boost &amp; deeper audience insights.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8006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00"/>
              <a:buFont typeface="Lora"/>
              <a:buNone/>
            </a:pPr>
            <a:r>
              <a:rPr b="1" lang="en-GB" sz="1100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Brand - Creator Flow</a:t>
            </a:r>
            <a:r>
              <a:rPr b="1" i="0" lang="en-GB" sz="11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:  </a:t>
            </a:r>
            <a:r>
              <a:rPr b="0" i="0" lang="en-GB" sz="11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more campaigns → more ROI data → sharper projections → more brand trust → more campaigns.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7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480060" y="37719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FUTURE ADVANCEMENTS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400"/>
              <a:buFont typeface="Poppins"/>
              <a:buNone/>
            </a:pPr>
            <a:r>
              <a:rPr b="1" i="0" lang="en-GB" sz="24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Where Proofluence goes next.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80060" y="1543050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85800" y="1762506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446" y="1905152"/>
            <a:ext cx="263348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/>
          <p:nvPr/>
        </p:nvSpPr>
        <p:spPr>
          <a:xfrm>
            <a:off x="1405890" y="1721358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Multi-platform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1405890" y="2077974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Instagram &amp; </a:t>
            </a:r>
            <a:r>
              <a:rPr lang="en-GB" sz="900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X </a:t>
            </a: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integration so scoring covers a creator's full reach.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3380994" y="1543050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3586734" y="1762506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9380" y="1905152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/>
          <p:nvPr/>
        </p:nvSpPr>
        <p:spPr>
          <a:xfrm>
            <a:off x="4306824" y="1721358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In-app payments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306824" y="2077974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Escrow-based payouts and auto-invoicing inside the platform.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281928" y="1543050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6487668" y="176250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0314" y="1905152"/>
            <a:ext cx="263348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7207758" y="1721358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Predictive 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7207758" y="2077974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A trained model that beats benchmarks using real campaign outcomes.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480060" y="2859786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85800" y="3079242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446" y="3221888"/>
            <a:ext cx="263348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/>
          <p:nvPr/>
        </p:nvSpPr>
        <p:spPr>
          <a:xfrm>
            <a:off x="1405890" y="3038094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Brand storefronts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1405890" y="3394710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Shoppable creator pages — true social commerce integration.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3380994" y="2859786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3586734" y="3079242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9380" y="322188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/>
          <p:nvPr/>
        </p:nvSpPr>
        <p:spPr>
          <a:xfrm>
            <a:off x="4306824" y="3038094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Auto-contracts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306824" y="3394710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E-signed agreements &amp; deliverable tracking, end to end.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6281928" y="2859786"/>
            <a:ext cx="2640330" cy="1110996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 cap="flat" cmpd="sng" w="12700">
            <a:solidFill>
              <a:srgbClr val="E7E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487668" y="307924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0314" y="3221888"/>
            <a:ext cx="263348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/>
          <p:nvPr/>
        </p:nvSpPr>
        <p:spPr>
          <a:xfrm>
            <a:off x="7207758" y="3038094"/>
            <a:ext cx="16116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200"/>
              <a:buFont typeface="Poppins"/>
              <a:buNone/>
            </a:pPr>
            <a:r>
              <a:rPr b="1" i="0" lang="en-GB" sz="1200" u="none" cap="none" strike="noStrike">
                <a:solidFill>
                  <a:srgbClr val="141413"/>
                </a:solidFill>
                <a:latin typeface="Poppins"/>
                <a:ea typeface="Poppins"/>
                <a:cs typeface="Poppins"/>
                <a:sym typeface="Poppins"/>
              </a:rPr>
              <a:t>Open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7207758" y="3394710"/>
            <a:ext cx="16116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34E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55534E"/>
                </a:solidFill>
                <a:latin typeface="Lora"/>
                <a:ea typeface="Lora"/>
                <a:cs typeface="Lora"/>
                <a:sym typeface="Lora"/>
              </a:rPr>
              <a:t>Shopify &amp; WooCommerce plugins for one-click attribution.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8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480060" y="377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80060" y="630936"/>
            <a:ext cx="8161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600"/>
              <a:buFont typeface="Poppins"/>
              <a:buNone/>
            </a:pPr>
            <a:r>
              <a:rPr b="1" i="0" lang="en-GB" sz="26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How the system fits together.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80060" y="1611630"/>
            <a:ext cx="1851660" cy="720090"/>
          </a:xfrm>
          <a:prstGeom prst="roundRect">
            <a:avLst>
              <a:gd fmla="val 8571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82079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/>
          <p:nvPr/>
        </p:nvSpPr>
        <p:spPr>
          <a:xfrm>
            <a:off x="1014984" y="172135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100"/>
              <a:buFont typeface="Poppins"/>
              <a:buNone/>
            </a:pPr>
            <a:r>
              <a:rPr b="1" i="0" lang="en-GB" sz="11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Brand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1014975" y="1995675"/>
            <a:ext cx="131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B4A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B6B4AC"/>
                </a:solidFill>
                <a:latin typeface="Lora"/>
                <a:ea typeface="Lora"/>
                <a:cs typeface="Lora"/>
                <a:sym typeface="Lora"/>
              </a:rPr>
              <a:t>Discover · ROI ·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80060" y="2537460"/>
            <a:ext cx="1851660" cy="720090"/>
          </a:xfrm>
          <a:prstGeom prst="roundRect">
            <a:avLst>
              <a:gd fmla="val 8571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" y="274662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/>
          <p:nvPr/>
        </p:nvSpPr>
        <p:spPr>
          <a:xfrm>
            <a:off x="1014984" y="264718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100"/>
              <a:buFont typeface="Poppins"/>
              <a:buNone/>
            </a:pPr>
            <a:r>
              <a:rPr b="1" i="0" lang="en-GB" sz="11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Creator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1014984" y="2921508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B4A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B6B4AC"/>
                </a:solidFill>
                <a:latin typeface="Lora"/>
                <a:ea typeface="Lora"/>
                <a:cs typeface="Lora"/>
                <a:sym typeface="Lora"/>
              </a:rPr>
              <a:t>Profile · Deals · Earnings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480060" y="3326130"/>
            <a:ext cx="18516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i="1" lang="en-GB" sz="800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Vite</a:t>
            </a:r>
            <a:r>
              <a:rPr b="0" i="1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 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2983230" y="2091690"/>
            <a:ext cx="1851660" cy="1165860"/>
          </a:xfrm>
          <a:prstGeom prst="roundRect">
            <a:avLst>
              <a:gd fmla="val 5294" name="adj"/>
            </a:avLst>
          </a:prstGeom>
          <a:solidFill>
            <a:srgbClr val="6A9BC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0390" y="25237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/>
          <p:nvPr/>
        </p:nvSpPr>
        <p:spPr>
          <a:xfrm>
            <a:off x="3518154" y="220141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100"/>
              <a:buFont typeface="Poppins"/>
              <a:buNone/>
            </a:pPr>
            <a:r>
              <a:rPr b="1" i="0" lang="en-GB" sz="11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Backend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3518154" y="2475738"/>
            <a:ext cx="1234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F4F1EA"/>
                </a:solidFill>
                <a:latin typeface="Lora"/>
                <a:ea typeface="Lora"/>
                <a:cs typeface="Lora"/>
                <a:sym typeface="Lora"/>
              </a:rPr>
              <a:t>Auth · Campaigns · Links · Creators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2983230" y="3326130"/>
            <a:ext cx="18516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800"/>
              <a:buFont typeface="Lora"/>
              <a:buNone/>
            </a:pPr>
            <a:r>
              <a:rPr b="0" i="1" lang="en-GB" sz="800" u="none" cap="none" strike="noStrike">
                <a:solidFill>
                  <a:srgbClr val="6A9BCC"/>
                </a:solidFill>
                <a:latin typeface="Lora"/>
                <a:ea typeface="Lora"/>
                <a:cs typeface="Lora"/>
                <a:sym typeface="Lora"/>
              </a:rPr>
              <a:t>Node.js / Express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5486400" y="1611630"/>
            <a:ext cx="1714500" cy="720090"/>
          </a:xfrm>
          <a:prstGeom prst="roundRect">
            <a:avLst>
              <a:gd fmla="val 8571" name="adj"/>
            </a:avLst>
          </a:prstGeom>
          <a:solidFill>
            <a:srgbClr val="D97757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3560" y="182079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/>
          <p:nvPr/>
        </p:nvSpPr>
        <p:spPr>
          <a:xfrm>
            <a:off x="6021324" y="172135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100"/>
              <a:buFont typeface="Poppins"/>
              <a:buNone/>
            </a:pPr>
            <a:r>
              <a:rPr b="1" i="0" lang="en-GB" sz="11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AI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6021324" y="1995678"/>
            <a:ext cx="1097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F4F1EA"/>
                </a:solidFill>
                <a:latin typeface="Lora"/>
                <a:ea typeface="Lora"/>
                <a:cs typeface="Lora"/>
                <a:sym typeface="Lora"/>
              </a:rPr>
              <a:t>Scoring · Briefs · ROI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5486400" y="2537460"/>
            <a:ext cx="1714500" cy="720090"/>
          </a:xfrm>
          <a:prstGeom prst="roundRect">
            <a:avLst>
              <a:gd fmla="val 8571" name="adj"/>
            </a:avLst>
          </a:prstGeom>
          <a:solidFill>
            <a:srgbClr val="788C5D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23560" y="274662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/>
          <p:nvPr/>
        </p:nvSpPr>
        <p:spPr>
          <a:xfrm>
            <a:off x="6021324" y="26471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100"/>
              <a:buFont typeface="Poppins"/>
              <a:buNone/>
            </a:pPr>
            <a:r>
              <a:rPr b="1" i="0" lang="en-GB" sz="11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6021324" y="2921508"/>
            <a:ext cx="1097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F4F1EA"/>
                </a:solidFill>
                <a:latin typeface="Lora"/>
                <a:ea typeface="Lora"/>
                <a:cs typeface="Lora"/>
                <a:sym typeface="Lora"/>
              </a:rPr>
              <a:t>Supabase data + 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5486400" y="3326130"/>
            <a:ext cx="17145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800"/>
              <a:buFont typeface="Lora"/>
              <a:buNone/>
            </a:pPr>
            <a:r>
              <a:rPr b="0" i="1" lang="en-GB" sz="800" u="none" cap="none" strike="noStrike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FastAPI · </a:t>
            </a:r>
            <a:r>
              <a:rPr i="1" lang="en-GB" sz="800">
                <a:solidFill>
                  <a:srgbClr val="D97757"/>
                </a:solidFill>
                <a:latin typeface="Lora"/>
                <a:ea typeface="Lora"/>
                <a:cs typeface="Lora"/>
                <a:sym typeface="Lora"/>
              </a:rPr>
              <a:t>Gemini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7578090" y="2091690"/>
            <a:ext cx="1062990" cy="1165860"/>
          </a:xfrm>
          <a:prstGeom prst="roundRect">
            <a:avLst>
              <a:gd fmla="val 5806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7578090" y="2173986"/>
            <a:ext cx="10629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000"/>
              <a:buFont typeface="Poppins"/>
              <a:buNone/>
            </a:pPr>
            <a:r>
              <a:rPr b="1" i="0" lang="en-GB" sz="10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External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7680960" y="2448306"/>
            <a:ext cx="85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B4AC"/>
              </a:buClr>
              <a:buSzPts val="800"/>
              <a:buFont typeface="Lora"/>
              <a:buNone/>
            </a:pPr>
            <a:r>
              <a:rPr b="0" i="0" lang="en-GB" sz="800" u="none" cap="none" strike="noStrike">
                <a:solidFill>
                  <a:srgbClr val="B6B4AC"/>
                </a:solidFill>
                <a:latin typeface="Lora"/>
                <a:ea typeface="Lora"/>
                <a:cs typeface="Lora"/>
                <a:sym typeface="Lora"/>
              </a:rPr>
              <a:t>YouTube API · </a:t>
            </a:r>
            <a:r>
              <a:rPr lang="en-GB" sz="800">
                <a:solidFill>
                  <a:srgbClr val="B6B4AC"/>
                </a:solidFill>
                <a:latin typeface="Lora"/>
                <a:ea typeface="Lora"/>
                <a:cs typeface="Lora"/>
                <a:sym typeface="Lora"/>
              </a:rPr>
              <a:t>Gemini</a:t>
            </a:r>
            <a:r>
              <a:rPr b="0" i="0" lang="en-GB" sz="800" u="none" cap="none" strike="noStrike">
                <a:solidFill>
                  <a:srgbClr val="B6B4AC"/>
                </a:solidFill>
                <a:latin typeface="Lora"/>
                <a:ea typeface="Lora"/>
                <a:cs typeface="Lora"/>
                <a:sym typeface="Lora"/>
              </a:rPr>
              <a:t>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3"/>
          <p:cNvCxnSpPr/>
          <p:nvPr/>
        </p:nvCxnSpPr>
        <p:spPr>
          <a:xfrm>
            <a:off x="2331670" y="2002671"/>
            <a:ext cx="651600" cy="466200"/>
          </a:xfrm>
          <a:prstGeom prst="straightConnector1">
            <a:avLst/>
          </a:prstGeom>
          <a:noFill/>
          <a:ln cap="flat" cmpd="sng" w="22225">
            <a:solidFill>
              <a:srgbClr val="D9775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" name="Google Shape;338;p23"/>
          <p:cNvCxnSpPr/>
          <p:nvPr/>
        </p:nvCxnSpPr>
        <p:spPr>
          <a:xfrm flipH="1" rot="10800000">
            <a:off x="2331720" y="2777490"/>
            <a:ext cx="651510" cy="116586"/>
          </a:xfrm>
          <a:prstGeom prst="straightConnector1">
            <a:avLst/>
          </a:prstGeom>
          <a:noFill/>
          <a:ln cap="flat" cmpd="sng" w="22225">
            <a:solidFill>
              <a:srgbClr val="D9775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" name="Google Shape;339;p23"/>
          <p:cNvCxnSpPr/>
          <p:nvPr/>
        </p:nvCxnSpPr>
        <p:spPr>
          <a:xfrm flipH="1" rot="10800000">
            <a:off x="4834890" y="1968246"/>
            <a:ext cx="651510" cy="466344"/>
          </a:xfrm>
          <a:prstGeom prst="straightConnector1">
            <a:avLst/>
          </a:prstGeom>
          <a:noFill/>
          <a:ln cap="flat" cmpd="sng" w="22225">
            <a:solidFill>
              <a:srgbClr val="D9775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" name="Google Shape;340;p23"/>
          <p:cNvCxnSpPr/>
          <p:nvPr/>
        </p:nvCxnSpPr>
        <p:spPr>
          <a:xfrm>
            <a:off x="4834890" y="2777490"/>
            <a:ext cx="651510" cy="116586"/>
          </a:xfrm>
          <a:prstGeom prst="straightConnector1">
            <a:avLst/>
          </a:prstGeom>
          <a:noFill/>
          <a:ln cap="flat" cmpd="sng" w="22225">
            <a:solidFill>
              <a:srgbClr val="D97757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" name="Google Shape;341;p23"/>
          <p:cNvCxnSpPr/>
          <p:nvPr/>
        </p:nvCxnSpPr>
        <p:spPr>
          <a:xfrm>
            <a:off x="7200900" y="2674620"/>
            <a:ext cx="377190" cy="0"/>
          </a:xfrm>
          <a:prstGeom prst="straightConnector1">
            <a:avLst/>
          </a:prstGeom>
          <a:noFill/>
          <a:ln cap="flat" cmpd="sng" w="22225">
            <a:solidFill>
              <a:srgbClr val="D9775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" name="Google Shape;342;p23"/>
          <p:cNvSpPr/>
          <p:nvPr/>
        </p:nvSpPr>
        <p:spPr>
          <a:xfrm>
            <a:off x="480060" y="4217670"/>
            <a:ext cx="8161020" cy="582930"/>
          </a:xfrm>
          <a:prstGeom prst="roundRect">
            <a:avLst>
              <a:gd fmla="val 11765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44028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/>
          <p:nvPr/>
        </p:nvSpPr>
        <p:spPr>
          <a:xfrm>
            <a:off x="994410" y="4217670"/>
            <a:ext cx="75438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8C5D"/>
              </a:buClr>
              <a:buSzPts val="900"/>
              <a:buFont typeface="Lora"/>
              <a:buNone/>
            </a:pPr>
            <a:r>
              <a:rPr b="1" i="0" lang="en-GB" sz="900" u="none" cap="none" strike="noStrike">
                <a:solidFill>
                  <a:srgbClr val="788C5D"/>
                </a:solidFill>
                <a:latin typeface="Lora"/>
                <a:ea typeface="Lora"/>
                <a:cs typeface="Lora"/>
                <a:sym typeface="Lora"/>
              </a:rPr>
              <a:t>Attribution layer:  </a:t>
            </a: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/r/:slug  edge redirect logs every click &amp; coupon redemption → writes back to PostgreSQL → feeds the AI scoring flywheel.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8161020" y="4766310"/>
            <a:ext cx="685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700"/>
              <a:buFont typeface="Lora"/>
              <a:buNone/>
            </a:pPr>
            <a:r>
              <a:rPr b="0" i="0" lang="en-GB" sz="7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9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3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/>
          <p:nvPr/>
        </p:nvSpPr>
        <p:spPr>
          <a:xfrm>
            <a:off x="480060" y="445770"/>
            <a:ext cx="651510" cy="651510"/>
          </a:xfrm>
          <a:prstGeom prst="ellipse">
            <a:avLst/>
          </a:prstGeom>
          <a:solidFill>
            <a:srgbClr val="D97757"/>
          </a:solidFill>
          <a:ln>
            <a:noFill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453" y="615163"/>
            <a:ext cx="312724" cy="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/>
          <p:nvPr/>
        </p:nvSpPr>
        <p:spPr>
          <a:xfrm>
            <a:off x="1268730" y="49377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Poppins"/>
              <a:buNone/>
            </a:pPr>
            <a:r>
              <a:rPr b="1" i="0" lang="en-GB" sz="18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PROOFLUENCE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480060" y="1440180"/>
            <a:ext cx="7543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300"/>
              <a:buFont typeface="Poppins"/>
              <a:buNone/>
            </a:pPr>
            <a:r>
              <a:rPr b="1" i="0" lang="en-GB" sz="33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Transparency is the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300"/>
              <a:buFont typeface="Poppins"/>
              <a:buNone/>
            </a:pPr>
            <a:r>
              <a:rPr b="1" i="0" lang="en-GB" sz="3300" u="none" cap="none" strike="noStrike">
                <a:solidFill>
                  <a:srgbClr val="FAF9F5"/>
                </a:solidFill>
                <a:latin typeface="Poppins"/>
                <a:ea typeface="Poppins"/>
                <a:cs typeface="Poppins"/>
                <a:sym typeface="Poppins"/>
              </a:rPr>
              <a:t>new creator currency.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480060" y="2983230"/>
            <a:ext cx="2640330" cy="1165860"/>
          </a:xfrm>
          <a:prstGeom prst="roundRect">
            <a:avLst>
              <a:gd fmla="val 5882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720090" y="3154680"/>
            <a:ext cx="21602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700"/>
              <a:buFont typeface="Poppins"/>
              <a:buNone/>
            </a:pPr>
            <a:r>
              <a:rPr b="1" i="0" lang="en-GB" sz="2700" u="none" cap="none" strike="noStrike">
                <a:solidFill>
                  <a:srgbClr val="D97757"/>
                </a:solidFill>
                <a:latin typeface="Poppins"/>
                <a:ea typeface="Poppins"/>
                <a:cs typeface="Poppins"/>
                <a:sym typeface="Poppins"/>
              </a:rPr>
              <a:t>₹2,200 Cr+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720090" y="3669030"/>
            <a:ext cx="22288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India's creator economy we unlock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3380994" y="2983230"/>
            <a:ext cx="2640330" cy="1165860"/>
          </a:xfrm>
          <a:prstGeom prst="roundRect">
            <a:avLst>
              <a:gd fmla="val 5882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3621024" y="3154680"/>
            <a:ext cx="21602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8C5D"/>
              </a:buClr>
              <a:buSzPts val="2700"/>
              <a:buFont typeface="Poppins"/>
              <a:buNone/>
            </a:pPr>
            <a:r>
              <a:rPr b="1" i="0" lang="en-GB" sz="2700" u="none" cap="none" strike="noStrike">
                <a:solidFill>
                  <a:srgbClr val="788C5D"/>
                </a:solidFill>
                <a:latin typeface="Poppins"/>
                <a:ea typeface="Poppins"/>
                <a:cs typeface="Poppins"/>
                <a:sym typeface="Poppins"/>
              </a:rPr>
              <a:t>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3621024" y="3669030"/>
            <a:ext cx="22288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agency middleman cut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6281928" y="2983230"/>
            <a:ext cx="2640330" cy="1165860"/>
          </a:xfrm>
          <a:prstGeom prst="roundRect">
            <a:avLst>
              <a:gd fmla="val 5882" name="adj"/>
            </a:avLst>
          </a:prstGeom>
          <a:solidFill>
            <a:srgbClr val="1F1E1C"/>
          </a:solidFill>
          <a:ln cap="flat" cmpd="sng" w="12700">
            <a:solidFill>
              <a:srgbClr val="3231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6521958" y="3154680"/>
            <a:ext cx="216027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BCC"/>
              </a:buClr>
              <a:buSzPts val="2700"/>
              <a:buFont typeface="Poppins"/>
              <a:buNone/>
            </a:pPr>
            <a:r>
              <a:rPr b="1" i="0" lang="en-GB" sz="2700" u="none" cap="none" strike="noStrike">
                <a:solidFill>
                  <a:srgbClr val="6A9BCC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6521958" y="3669030"/>
            <a:ext cx="22288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7BF"/>
              </a:buClr>
              <a:buSzPts val="900"/>
              <a:buFont typeface="Lora"/>
              <a:buNone/>
            </a:pPr>
            <a:r>
              <a:rPr b="0" i="0" lang="en-GB" sz="900" u="none" cap="none" strike="noStrike">
                <a:solidFill>
                  <a:srgbClr val="C9C7BF"/>
                </a:solidFill>
                <a:latin typeface="Lora"/>
                <a:ea typeface="Lora"/>
                <a:cs typeface="Lora"/>
                <a:sym typeface="Lora"/>
              </a:rPr>
              <a:t>consented, creator-owned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480060" y="445770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97E"/>
              </a:buClr>
              <a:buSzPts val="1100"/>
              <a:buFont typeface="Lora"/>
              <a:buNone/>
            </a:pPr>
            <a:r>
              <a:rPr b="0" i="1" lang="en-GB" sz="1100" u="none" cap="none" strike="noStrike">
                <a:solidFill>
                  <a:srgbClr val="8A897E"/>
                </a:solidFill>
                <a:latin typeface="Lora"/>
                <a:ea typeface="Lora"/>
                <a:cs typeface="Lora"/>
                <a:sym typeface="Lora"/>
              </a:rPr>
              <a:t>Bring the idea. Ship the prototype. Make the drop memorable.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